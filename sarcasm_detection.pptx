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Val Macro-F1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A: CE-Only</c:v>
                </c:pt>
              </c:strCache>
            </c:strRef>
          </c:tx>
          <c:spPr>
            <a:ln w="31750" cap="flat">
              <a:solidFill>
                <a:srgbClr val="95A5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5A5A6"/>
              </a:solidFill>
              <a:ln w="9525" cap="flat">
                <a:solidFill>
                  <a:srgbClr val="95A5A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0.39</c:v>
                </c:pt>
                <c:pt idx="1">
                  <c:v>0.92400000000000004</c:v>
                </c:pt>
                <c:pt idx="2">
                  <c:v>0.88600000000000001</c:v>
                </c:pt>
                <c:pt idx="3">
                  <c:v>0.94699999999999995</c:v>
                </c:pt>
                <c:pt idx="4">
                  <c:v>0.93600000000000005</c:v>
                </c:pt>
                <c:pt idx="5">
                  <c:v>0.94699999999999995</c:v>
                </c:pt>
                <c:pt idx="6">
                  <c:v>0.94699999999999995</c:v>
                </c:pt>
                <c:pt idx="7">
                  <c:v>0.94699999999999995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245-4755-B9C3-B87E864996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E: Full Best λ</c:v>
                </c:pt>
              </c:strCache>
            </c:strRef>
          </c:tx>
          <c:spPr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8"/>
                <c:pt idx="0">
                  <c:v>0.39</c:v>
                </c:pt>
                <c:pt idx="1">
                  <c:v>0.84899999999999998</c:v>
                </c:pt>
                <c:pt idx="2">
                  <c:v>0.93600000000000005</c:v>
                </c:pt>
                <c:pt idx="3">
                  <c:v>0.92500000000000004</c:v>
                </c:pt>
                <c:pt idx="4">
                  <c:v>0.92500000000000004</c:v>
                </c:pt>
                <c:pt idx="5">
                  <c:v>0.91400000000000003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245-4755-B9C3-B87E8649965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F: Full λ=0.30</c:v>
                </c:pt>
              </c:strCache>
            </c:strRef>
          </c:tx>
          <c:spPr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0.39</c:v>
                </c:pt>
                <c:pt idx="1">
                  <c:v>0.84699999999999998</c:v>
                </c:pt>
                <c:pt idx="2">
                  <c:v>0.92500000000000004</c:v>
                </c:pt>
                <c:pt idx="3">
                  <c:v>0.91600000000000004</c:v>
                </c:pt>
                <c:pt idx="4">
                  <c:v>0.91400000000000003</c:v>
                </c:pt>
                <c:pt idx="5">
                  <c:v>0.91500000000000004</c:v>
                </c:pt>
                <c:pt idx="6">
                  <c:v>0.93500000000000005</c:v>
                </c:pt>
                <c:pt idx="7">
                  <c:v>0.93500000000000005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245-4755-B9C3-B87E86499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KL Loss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E: Full Best λ</c:v>
                </c:pt>
              </c:strCache>
            </c:strRef>
          </c:tx>
          <c:spPr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1.0189999999999999</c:v>
                </c:pt>
                <c:pt idx="1">
                  <c:v>0.998</c:v>
                </c:pt>
                <c:pt idx="2">
                  <c:v>0.92600000000000005</c:v>
                </c:pt>
                <c:pt idx="3">
                  <c:v>0.86599999999999999</c:v>
                </c:pt>
                <c:pt idx="4">
                  <c:v>0.76200000000000001</c:v>
                </c:pt>
                <c:pt idx="5">
                  <c:v>0.66800000000000004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645-4738-82EC-9685DA82FA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F: Full λ=0.30</c:v>
                </c:pt>
              </c:strCache>
            </c:strRef>
          </c:tx>
          <c:spPr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1.0189999999999999</c:v>
                </c:pt>
                <c:pt idx="1">
                  <c:v>0.98</c:v>
                </c:pt>
                <c:pt idx="2">
                  <c:v>0.85699999999999998</c:v>
                </c:pt>
                <c:pt idx="3">
                  <c:v>0.65300000000000002</c:v>
                </c:pt>
                <c:pt idx="4">
                  <c:v>0.44900000000000001</c:v>
                </c:pt>
                <c:pt idx="5">
                  <c:v>0.35099999999999998</c:v>
                </c:pt>
                <c:pt idx="6">
                  <c:v>0.31</c:v>
                </c:pt>
                <c:pt idx="7">
                  <c:v>0.28199999999999997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645-4738-82EC-9685DA82FA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852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Gaze-Guided Sarcasm Detection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2870564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  <p:txBody>
          <a:bodyPr/>
          <a:lstStyle/>
          <a:p>
            <a:r>
              <a:rPr lang="en-US" dirty="0"/>
              <a:t>BY – Ujjwal          Diwyanshu         Tarachand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20040" y="1965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51529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multi-signal neural architecture that detects sarcasm and identifies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trigger words using human gaze as a supervision signal.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0040" y="374904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374904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74904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161K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772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374904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Alignment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097280"/>
            <a:ext cx="1371600" cy="82296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1298448"/>
            <a:ext cx="640080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9288" y="1389888"/>
            <a:ext cx="329184" cy="21945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EYE GAZE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Why Sarcasm Is Hard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Sarcasm?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47472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2763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27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618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one thing while meaning the opposite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21214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INCONGRUITY — positive words in negative contexts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6243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readers spend more time on trigger words (gaze evidence)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36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31272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NLP models treat all words equally → FAIL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960120"/>
            <a:ext cx="42519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Concrete Example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36576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600200"/>
            <a:ext cx="3840480" cy="594360"/>
          </a:xfrm>
          <a:prstGeom prst="roundRect">
            <a:avLst>
              <a:gd name="adj" fmla="val 1076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00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"I work 40 hours a week to be this </a:t>
            </a:r>
            <a:r>
              <a:rPr lang="en-US" sz="1500" b="1" dirty="0">
                <a:solidFill>
                  <a:srgbClr val="EF4444"/>
                </a:solidFill>
              </a:rPr>
              <a:t>POOR.</a:t>
            </a:r>
            <a:r>
              <a:rPr lang="en-US" sz="1500" dirty="0">
                <a:solidFill>
                  <a:srgbClr val="0F172A"/>
                </a:solidFill>
              </a:rPr>
              <a:t>"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clash between 'work hard' and 'poor' is the TRIGGER.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Gaze Duration per Word (normalized)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858768"/>
            <a:ext cx="36576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39512" y="3712464"/>
            <a:ext cx="365760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239512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78424" y="3785616"/>
            <a:ext cx="365760" cy="5120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678424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17336" y="3785616"/>
            <a:ext cx="365760" cy="5120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117336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556248" y="3785616"/>
            <a:ext cx="365760" cy="5120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56248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95160" y="3785616"/>
            <a:ext cx="365760" cy="5120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995160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34072" y="3712464"/>
            <a:ext cx="365760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7434072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72984" y="3639312"/>
            <a:ext cx="36576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7872984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11896" y="3419856"/>
            <a:ext cx="365760" cy="87782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8311896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Dataset: Text + Eye Gaze Fixations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994 Texts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sarcastic (35.2%)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644 non-sarcastic (64.8%)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 : 1 imbalance ratio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Participants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 every 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161,003 fixation rows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Per-word gaze durations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7432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94.6% Alignment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word → text word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Unicode-normalised match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994/994 texts aligned ≥50%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788920"/>
            <a:ext cx="1188720" cy="11887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" y="303580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Sarcastic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Non-Sarcastic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2743200"/>
            <a:ext cx="5852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Gaze Alignment Process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54680" y="324612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32735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Fixation CSV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54680" y="3547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Text_ID, Word_ID, Word, Fixation_Duration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34840" y="3291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0" y="324612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2735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per word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0" y="3547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duration across 7 participants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52160" y="3291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89320" y="324612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2735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Normalize &amp; Match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89320" y="3547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punctuation, lowercase, match to text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269480" y="3291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06640" y="324612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32735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within sentence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06640" y="3547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statistically high-fixation words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5468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Per-word normalized gaze importance weights + z-scores for all 994 texts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54680" y="43159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gaze_z[i] = (fixation[i] − μ) / σ  →  words with gaze_z &gt; 0.5 are trigger candidates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Augmentation: Fixing the Small-Data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994 texts total — tiny for BERT fine-tuning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350 sarcastic vs 644 non-sarcastic (imbalanced)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of overfitting on few sarcastic examples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The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Synonym swap on sarcastic rows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56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Replace ≤2 polar words per sentence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2494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Preserves incongruity structure &amp; gaze targets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426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Applied to TRAINING SET ONLY (no leakage)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8595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 Example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352044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work 40 hours a week to be this poor"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Copy 1: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90448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work 40 hours a week to be this dreadful"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88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Copy 2: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428853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work 40 hours a week to be this bad"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794 train texts → after augmentation: 1,268 rows  (+524 synthetic sarcastic)  |  Val: 100  |  Test: 150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Contradiction Features: Detecting Sentiment Clash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5-Dim Feature Vector (per word)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481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76272" y="1481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|word_sentiment − mean(neighbors)|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sign_flip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1984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word &amp; neighbors have opposite polarity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24871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|word_sent|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VADER score of the word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90088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9900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|neigh_sent|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76272" y="2990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mean VADER score of neighbors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3493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is_polar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76272" y="34930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|word_sent| &gt; 0.05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16052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Riloff et al. 2013 — "positive verbs in negative situations" = sarcasm trigger pattern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"Great job breaking everything again."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1481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    local_gap     VADER     Flag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828800"/>
            <a:ext cx="393192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60720" y="1938528"/>
            <a:ext cx="85725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1828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18120" y="1828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TRIGGER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304288"/>
            <a:ext cx="393192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3042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60720" y="2414016"/>
            <a:ext cx="285293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0" y="23042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18120" y="23042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TRIGGER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779776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7797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60720" y="2889504"/>
            <a:ext cx="21397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7223760" y="277977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255264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255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60720" y="3364992"/>
            <a:ext cx="69952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7223760" y="32552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730752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7307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760720" y="3840480"/>
            <a:ext cx="2880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7223760" y="37307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Trigger Labels: Combining Gaze + Contradiction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86968"/>
            <a:ext cx="8412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score[i]  =  max(0, gaze_z[i])  ×  (1 + local_gap[i])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L1-normalise  →  probability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Gaze Z-Score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Above-mean fixation duration (z &gt; 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reader attention to the word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920240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Gap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incongruity in the neighborhood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|word_sent − neighbor_sent|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9202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Target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423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signal: words that are BOTH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fixation AND sentiment-clashing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8036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0644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8595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"Suburbia: where they tear out the trees and then name streets after them."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334256"/>
            <a:ext cx="594360" cy="5120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Suburbia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69848" y="4341571"/>
            <a:ext cx="594360" cy="5047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1069848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773936" y="4246474"/>
            <a:ext cx="594360" cy="59984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1773936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478024" y="4253789"/>
            <a:ext cx="594360" cy="592531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7"/>
          <p:cNvSpPr/>
          <p:nvPr/>
        </p:nvSpPr>
        <p:spPr>
          <a:xfrm>
            <a:off x="2478024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182112" y="4443984"/>
            <a:ext cx="594360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9"/>
          <p:cNvSpPr/>
          <p:nvPr/>
        </p:nvSpPr>
        <p:spPr>
          <a:xfrm>
            <a:off x="3182112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886200" y="4363517"/>
            <a:ext cx="594360" cy="48280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31"/>
          <p:cNvSpPr/>
          <p:nvPr/>
        </p:nvSpPr>
        <p:spPr>
          <a:xfrm>
            <a:off x="3886200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90288" y="4261104"/>
            <a:ext cx="594360" cy="5852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4590288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294376" y="4275734"/>
            <a:ext cx="594360" cy="57058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5294376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998464" y="4187952"/>
            <a:ext cx="59436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5998464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702552" y="4173322"/>
            <a:ext cx="594360" cy="67299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702552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406640" y="4085539"/>
            <a:ext cx="594360" cy="760781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110728" y="4407408"/>
            <a:ext cx="594360" cy="43891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5" name="Text 43"/>
          <p:cNvSpPr/>
          <p:nvPr/>
        </p:nvSpPr>
        <p:spPr>
          <a:xfrm>
            <a:off x="8110728" y="4873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Architecture: SarcasmTriggerModel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56032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Layers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hidden dim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Attention Mode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(output_attentions=True)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1945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 → pooler_output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21945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H_i per token (all seq)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57200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572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Token IDs + Attention Mask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4297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3464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291840" y="1463040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Sarcasm Head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920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pooler_output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Dropout(0.2)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Linear(768 → 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CE Loss (class-weighted)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474720"/>
            <a:ext cx="64008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474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4160520"/>
            <a:ext cx="11887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206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(5-dim)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40233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60520" y="3337560"/>
            <a:ext cx="27432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42062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Head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06240" y="37947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[H_i; contra_features] (768+5)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Dropout(0.2)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Linear(773 → 128)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GELU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Linear(128 →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KL-Div Loss vs gaze targets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1463040"/>
            <a:ext cx="173736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0" y="3337560"/>
            <a:ext cx="1737360" cy="82296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0" y="3337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1645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Function + Trigger Sharpness Monitor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L_total  =  </a:t>
            </a:r>
            <a:r>
              <a:rPr lang="en-US" sz="1800" b="1" dirty="0">
                <a:solidFill>
                  <a:srgbClr val="14B8A6"/>
                </a:solidFill>
              </a:rPr>
              <a:t>CE(sarcasm, class_weighted)</a:t>
            </a:r>
            <a:r>
              <a:rPr lang="en-US" sz="1800" b="1" dirty="0">
                <a:solidFill>
                  <a:srgbClr val="FFFFFF"/>
                </a:solidFill>
              </a:rPr>
              <a:t>  +  λ  ×  </a:t>
            </a:r>
            <a:r>
              <a:rPr lang="en-US" sz="1800" b="1" dirty="0">
                <a:solidFill>
                  <a:srgbClr val="B08AFF"/>
                </a:solidFill>
              </a:rPr>
              <a:t>KL(softmax(trigger_logits) ‖ soft_gaze_target)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Cross-Entropy Loss (CE)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sarcasm classification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to handle imbalance: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weight[0] = 1 / count_non_sarc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weight[1] = 1 / count_sarc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minority (sarcastic) class not ignored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783080"/>
            <a:ext cx="4297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KL-Divergence Loss (Trigger)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2402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sarcastic rows with non-zero gaze targets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tokens masked before softmax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model to match human gaze distribution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normalized soft gaze target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softmax(trigger_logits)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Sharpness Monitor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entropy of predicted trigger distributions computed each epoch on val sarcastic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possible entropy for seq_len=128: log(128) ≈ 4.852 nats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If mean entropy &gt; 85% of max  →  trigger head is FLAT  →  ⚠ COLLAPSE WARNING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Collapse = model assigns equal probability to all tokens = useless trigger localization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Pipeline: End-to-End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95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9144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77724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795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0" y="9144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795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9144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77724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795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9144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795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Feat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9144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77724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795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Trigger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9144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77724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795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9144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77724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79552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3-Way Stratified Split (Train 74% | Val 10% | Test 15%)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1874520"/>
            <a:ext cx="265176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(Aug)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1,268 rows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1874520"/>
            <a:ext cx="265176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rows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1874520"/>
            <a:ext cx="265176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(Held-Out)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rows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2496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74320" y="2788920"/>
            <a:ext cx="859536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Loop  (8 epochs max | patience=3)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Ep1: BERT FROZEN (only heads train)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Ep2+: BERT UNFROZEN (layer-wise LR)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375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 = CE + λ×KL  →  gradient clip(1.0)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375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Warmup scheduler → linear decay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1792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Monitor: Val F1 + P@k + Entropy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1792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ckpt saved → reloaded at end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274320" y="4206240"/>
            <a:ext cx="1554480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22452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011680" y="4206240"/>
            <a:ext cx="1554480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11680" y="422452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49040" y="4206240"/>
            <a:ext cx="1554480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422452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(6 cond)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0" y="4206240"/>
            <a:ext cx="1554480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422452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23760" y="4206240"/>
            <a:ext cx="1554480" cy="749808"/>
          </a:xfrm>
          <a:prstGeom prst="roundRect">
            <a:avLst>
              <a:gd name="adj" fmla="val 8537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422452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λ Sweep: Justifying the Regularization Strength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435608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09928" y="868680"/>
            <a:ext cx="1435608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709928" y="8686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Macro-F1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45536" y="868680"/>
            <a:ext cx="1435608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145536" y="8686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KL Loss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81144" y="868680"/>
            <a:ext cx="1435608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8686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16752" y="868680"/>
            <a:ext cx="1435608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016752" y="8686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(nats)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868680"/>
            <a:ext cx="1435608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8686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252728"/>
            <a:ext cx="1435608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52728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09928" y="1252728"/>
            <a:ext cx="1435608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09928" y="1252728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45536" y="1252728"/>
            <a:ext cx="1435608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5536" y="1252728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81144" y="1252728"/>
            <a:ext cx="1435608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1144" y="1252728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0.1619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16752" y="1252728"/>
            <a:ext cx="1435608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1252728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2.9663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52360" y="1252728"/>
            <a:ext cx="1435608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252728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✓ BEST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1728216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1728216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09928" y="1728216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09928" y="1728216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45536" y="1728216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728216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1.1911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81144" y="1728216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1728216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0.1810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16752" y="1728216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1728216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2.9430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52360" y="1728216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1728216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2203704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203704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709928" y="2203704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09928" y="2203704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45536" y="2203704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5536" y="2203704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1.2214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81144" y="2203704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81144" y="2203704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0.1619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16752" y="2203704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2203704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2.9130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52360" y="2203704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52360" y="2203704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2679192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2679192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709928" y="2679192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09928" y="2679192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145536" y="2679192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45536" y="2679192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1.2294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81144" y="2679192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81144" y="2679192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0.1714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016752" y="2679192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16752" y="2679192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2.8882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452360" y="2679192"/>
            <a:ext cx="143560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2360" y="2679192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3154680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15468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709928" y="3154680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09928" y="315468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0.9226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145536" y="3154680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45536" y="315468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1.2603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81144" y="3154680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81144" y="315468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0.1905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016752" y="3154680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16752" y="315468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2.8688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452360" y="3154680"/>
            <a:ext cx="14356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52360" y="315468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74320" y="3749040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37490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λ Selection Rule:   score = 0.7 × val_F1  +  0.3 × P@3   →   Best λ = 0.05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274320" y="4480560"/>
            <a:ext cx="8595360" cy="548640"/>
          </a:xfrm>
          <a:prstGeom prst="roundRect">
            <a:avLst>
              <a:gd name="adj" fmla="val 1166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44805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Higher λ forces sharper triggers (lower entropy) but hurts sarcasm F1 — λ=0.05 optimally balances both objectives.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Study: 6 Model Conditions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657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502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914400"/>
            <a:ext cx="502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914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914400"/>
            <a:ext cx="5943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9144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914400"/>
            <a:ext cx="6400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914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914400"/>
            <a:ext cx="7315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2880360" y="9144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914400"/>
            <a:ext cx="6400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914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914400"/>
            <a:ext cx="25603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298448"/>
            <a:ext cx="36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2984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1298448"/>
            <a:ext cx="502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298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43000" y="1298448"/>
            <a:ext cx="502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1298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0" y="1298448"/>
            <a:ext cx="594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12984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1298448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0280" y="1298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80360" y="1298448"/>
            <a:ext cx="731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12984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11880" y="1298448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1298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1298448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1298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BERT baseline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58000" y="1389888"/>
            <a:ext cx="1010869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7914589" y="1389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1773936"/>
            <a:ext cx="3657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17739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1773936"/>
            <a:ext cx="502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43000" y="1773936"/>
            <a:ext cx="502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1773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645920" y="1773936"/>
            <a:ext cx="5943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0" y="17739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40280" y="1773936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0280" y="1773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80360" y="1773936"/>
            <a:ext cx="731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17739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11880" y="1773936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11880" y="1773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51960" y="1773936"/>
            <a:ext cx="2560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51960" y="17739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Gaze, weak λ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858000" y="1865376"/>
            <a:ext cx="1076249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7979969" y="1865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2249424"/>
            <a:ext cx="365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22494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" y="2249424"/>
            <a:ext cx="502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2249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143000" y="2249424"/>
            <a:ext cx="502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43000" y="2249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645920" y="2249424"/>
            <a:ext cx="594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45920" y="2249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240280" y="2249424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40280" y="2249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880360" y="2249424"/>
            <a:ext cx="731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80360" y="22494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611880" y="2249424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11880" y="2249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251960" y="2249424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51960" y="22494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Gaze, best λ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858000" y="2340864"/>
            <a:ext cx="1076249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3" name="Text 71"/>
          <p:cNvSpPr/>
          <p:nvPr/>
        </p:nvSpPr>
        <p:spPr>
          <a:xfrm>
            <a:off x="7979969" y="2340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2724912"/>
            <a:ext cx="3657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27249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40080" y="2724912"/>
            <a:ext cx="502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143000" y="2724912"/>
            <a:ext cx="502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43000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645920" y="2724912"/>
            <a:ext cx="5943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45920" y="272491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240280" y="2724912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40280" y="2724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880360" y="2724912"/>
            <a:ext cx="731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880360" y="2724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611880" y="2724912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11880" y="2724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251960" y="2724912"/>
            <a:ext cx="2560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51960" y="2724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model, weak λ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858000" y="2816352"/>
            <a:ext cx="126735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1" name="Text 89"/>
          <p:cNvSpPr/>
          <p:nvPr/>
        </p:nvSpPr>
        <p:spPr>
          <a:xfrm>
            <a:off x="8171078" y="2816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74320" y="3200400"/>
            <a:ext cx="365760" cy="457200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40080" y="3200400"/>
            <a:ext cx="502920" cy="457200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008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1143000" y="3200400"/>
            <a:ext cx="502920" cy="457200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4300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645920" y="3200400"/>
            <a:ext cx="594360" cy="457200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645920" y="32004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2240280" y="3200400"/>
            <a:ext cx="640080" cy="457200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4028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2880360" y="3200400"/>
            <a:ext cx="731520" cy="457200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88036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3611880" y="3200400"/>
            <a:ext cx="640080" cy="457200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1188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4251960" y="3200400"/>
            <a:ext cx="2560320" cy="457200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5196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FULL MODEL (ours)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6858000" y="3291840"/>
            <a:ext cx="1267358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9" name="Text 107"/>
          <p:cNvSpPr/>
          <p:nvPr/>
        </p:nvSpPr>
        <p:spPr>
          <a:xfrm>
            <a:off x="8171078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74320" y="3675888"/>
            <a:ext cx="3657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4320" y="3675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640080" y="3675888"/>
            <a:ext cx="502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40080" y="3675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1143000" y="3675888"/>
            <a:ext cx="502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43000" y="3675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645920" y="3675888"/>
            <a:ext cx="5943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45920" y="36758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2240280" y="3675888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240280" y="3675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2880360" y="3675888"/>
            <a:ext cx="731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880360" y="36758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3611880" y="3675888"/>
            <a:ext cx="640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611880" y="3675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0.229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4251960" y="3675888"/>
            <a:ext cx="25603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25196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model, strong λ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6858000" y="3767328"/>
            <a:ext cx="1151687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7" name="Text 125"/>
          <p:cNvSpPr/>
          <p:nvPr/>
        </p:nvSpPr>
        <p:spPr>
          <a:xfrm>
            <a:off x="8055407" y="3767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0.229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6675120" y="914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→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274320" y="4251960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57200" y="42519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Adding Contradiction Features (D/E vs B/C) boosts P@3 by +18% with no F1 loss. This validates gaze-guided training.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Evaluation Suite — Test Set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600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of top-3 predicted vs gaze top-3 tokens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868680"/>
            <a:ext cx="1600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914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correlation: pred probs vs gaze scores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868680"/>
            <a:ext cx="1600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914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IoU@3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intersection-over-union @ k=3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868680"/>
            <a:ext cx="1600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914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distribution entropy — lower = sharper focus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868680"/>
            <a:ext cx="1600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914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Hit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top-3 that are locally contradictory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737360"/>
            <a:ext cx="201168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1737360"/>
            <a:ext cx="9601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17373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737360"/>
            <a:ext cx="9601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17373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1737360"/>
            <a:ext cx="9601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17373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IoU@3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1737360"/>
            <a:ext cx="9601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17373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737360"/>
            <a:ext cx="9601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7373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ContraHit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084832"/>
            <a:ext cx="20116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Baseline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0" y="2084832"/>
            <a:ext cx="96012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2084832"/>
            <a:ext cx="96012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-0.064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0" y="2084832"/>
            <a:ext cx="96012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66360" y="2084832"/>
            <a:ext cx="96012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2.545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2084832"/>
            <a:ext cx="96012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2157984"/>
            <a:ext cx="342443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2487168"/>
            <a:ext cx="20116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487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CE-Only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0" y="2487168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46120" y="2487168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0.055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206240" y="2487168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66360" y="2487168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2.899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26480" y="2487168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223760" y="2560320"/>
            <a:ext cx="64328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7" name="Shape 55"/>
          <p:cNvSpPr/>
          <p:nvPr/>
        </p:nvSpPr>
        <p:spPr>
          <a:xfrm>
            <a:off x="274320" y="288950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28895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Gaze λ=0.05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286000" y="288950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0" y="2889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46120" y="288950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46120" y="2889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0.059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206240" y="288950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06240" y="2889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166360" y="288950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66360" y="2889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2.823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126480" y="288950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26480" y="2889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223760" y="2962656"/>
            <a:ext cx="684886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0" name="Shape 68"/>
          <p:cNvSpPr/>
          <p:nvPr/>
        </p:nvSpPr>
        <p:spPr>
          <a:xfrm>
            <a:off x="274320" y="3291840"/>
            <a:ext cx="20116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3291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Gaze Best λ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286000" y="3291840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86000" y="3291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46120" y="3291840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46120" y="3291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0.059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206240" y="3291840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06240" y="3291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166360" y="3291840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66360" y="3291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2.823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126480" y="3291840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26480" y="3291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223760" y="3364992"/>
            <a:ext cx="684886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3" name="Shape 81"/>
          <p:cNvSpPr/>
          <p:nvPr/>
        </p:nvSpPr>
        <p:spPr>
          <a:xfrm>
            <a:off x="274320" y="369417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36941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Full λ=0.05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286000" y="369417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86000" y="3694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246120" y="369417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46120" y="3694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0.087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206240" y="369417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06240" y="3694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0.162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166360" y="369417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66360" y="3694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126480" y="369417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126480" y="36941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223760" y="3767328"/>
            <a:ext cx="806501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6" name="Shape 94"/>
          <p:cNvSpPr/>
          <p:nvPr/>
        </p:nvSpPr>
        <p:spPr>
          <a:xfrm>
            <a:off x="274320" y="4096512"/>
            <a:ext cx="2011680" cy="384048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4320" y="40965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Full Best λ ⭐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2286000" y="4096512"/>
            <a:ext cx="960120" cy="384048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286000" y="40965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0.252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246120" y="4096512"/>
            <a:ext cx="960120" cy="384048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46120" y="40965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0.087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4206240" y="4096512"/>
            <a:ext cx="960120" cy="384048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206240" y="40965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0.162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166360" y="4096512"/>
            <a:ext cx="960120" cy="384048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166360" y="40965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2.841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6126480" y="4096512"/>
            <a:ext cx="960120" cy="384048"/>
          </a:xfrm>
          <a:prstGeom prst="rect">
            <a:avLst/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26480" y="40965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223760" y="4169664"/>
            <a:ext cx="806501" cy="2377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74320" y="449884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74320" y="4498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Full λ=0.30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2286000" y="4498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86000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0.182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246120" y="4498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246120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0.099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4206240" y="4498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206240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0.111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5166360" y="4498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166360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2.614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6126480" y="4498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126480" y="44988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7223760" y="4572000"/>
            <a:ext cx="582473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74320" y="4727448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BERT-Attention Baseline: uses CLS→token attention directly (no trigger head training) — our trained head beats it on every metric.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Qualitative Analysis: Trigger Word Spotlight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41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"Yeah great, just what I needed today."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93192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SARCASTIC (100% conf) 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tokens: yeah, great, 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identifies the enthusiastic opener 'great' as the trigger — VADER score 0.625 in a negative context.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"Nice perfume. Must you marinate in it?"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393192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SARCASTIC (100% conf) 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764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tokens: nice, marinate,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0873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positive word 'nice' in a sarcastic complaint — classic incongruity pattern (P@3 = 0/3 vs gaze GT but semantically correct).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941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work 40 hours a week to be this poor."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1371600"/>
            <a:ext cx="3931920" cy="292608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SARCASTIC (100% conf)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719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tokens: week, be, this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0299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'poor' has VADER score -0.477 in a hard-work context — the model attends near the trigger; gaze GT was on 'poor' specifically.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"Actually, all reviews for this are serious..."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3429000"/>
            <a:ext cx="3931920" cy="292608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SARCASTIC (99% conf) 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7764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tokens: 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0873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failure case: confusing ironic framing with genuine statement. Trigger display suppressed for non-sarcastic predictions.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Dynamics — Key Ablation Models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86868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4904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from Training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224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(CE-only) reaches F1=0.947 but trigger detection is random — no gaze supervision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4407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 converges faster (6 epochs) due to the KL auxiliary signal regularizing the trigger head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 (λ=0.30) has lowest entropy (sharpest triggers) but overly strong KL hurts F1 slightly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Freeze-then-unfreeze: epoch 1 frozen BERT warms up task heads; epoch 2+ full fine-tuning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Summary &amp; Honest Reporting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What Worked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BERT fine-tuning reached 94.7% val F1 on sarcasm classification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Gaze alignment: 94.6% word-level match across 994 texts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Contradiction features boosted P@3 from 0.214 → 0.252 (+18%)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KL supervision produces sharper triggers than raw BERT attention (P@3: 0.252 vs 0.107)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55264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 correctly identifies positive words in negative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30752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Augmentation balanced class distribution without data leakage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Freeze-then-unfreeze training stabilized early convergence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Limitations &amp; Future 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353312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P@3 = 0.252 is modest — trigger precision has room to improve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Only 7 participants → gaze targets are noisy approximations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04288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Spearman ρ = 0.087 (low rank correlation on trigger ordering)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779776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Subword tokenization loses word boundaries (e.g. 'Nij→ni|jin##sky')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55264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Dataset is small (994 texts) even after augmentation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30752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Gaze data not available at inference time — must rely on prediction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Future: larger gaze datasets, better subword pooling, multi-lingual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873752"/>
            <a:ext cx="8595360" cy="18288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&amp; Hyperparameters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68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40280" y="8686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bert-base-uncased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8888" y="868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 Length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8686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tokens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4297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898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138988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389888"/>
            <a:ext cx="4297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3898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38988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(with patience=3)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911096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9110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19110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2e-5 (BERT) / 1e-4 (heads)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911096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9110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19110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32304"/>
            <a:ext cx="4297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43230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λ_trigger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243230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 (after sweep)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432304"/>
            <a:ext cx="4297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43230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Z Threshold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43230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953512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9535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40280" y="29535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(contradiction feature)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953512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9535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9535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4297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474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40280" y="347472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 | Test: 15%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474720"/>
            <a:ext cx="4297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474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Factor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347472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(synonym swap)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995928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9959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Collapse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40280" y="39959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 of log(128)=4.852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3995928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9959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0" y="39959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(GPU)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517136"/>
            <a:ext cx="4297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5171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240280" y="451713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+ weight_decay=0.01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09160" y="4517136"/>
            <a:ext cx="42976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45171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75120" y="451713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warmup+decay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Gaze-Guided Sarcasm Detection with BERT + KL Supervision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Architecture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+ Gaze + Contradiction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Gaze-Supervised Training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KL-Div against human fixation targets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Trigger Words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token localization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3474720"/>
            <a:ext cx="914400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94.7%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Macro-F1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0.252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60604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P@3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5488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from Contra Feat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2.35×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0372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BERT Attn Baseline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2178</Words>
  <Application>Microsoft Office PowerPoint</Application>
  <PresentationFormat>On-screen Show (16:9)</PresentationFormat>
  <Paragraphs>523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Gaze-Guided Sarcasm Detection</dc:title>
  <dc:subject>PptxGenJS Presentation</dc:subject>
  <dc:creator>PptxGenJS</dc:creator>
  <cp:lastModifiedBy>Ujjwal Goyal</cp:lastModifiedBy>
  <cp:revision>4</cp:revision>
  <dcterms:created xsi:type="dcterms:W3CDTF">2026-05-05T16:21:57Z</dcterms:created>
  <dcterms:modified xsi:type="dcterms:W3CDTF">2026-05-05T16:27:12Z</dcterms:modified>
</cp:coreProperties>
</file>